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4589"/>
  </p:normalViewPr>
  <p:slideViewPr>
    <p:cSldViewPr snapToGrid="0" snapToObjects="1">
      <p:cViewPr>
        <p:scale>
          <a:sx n="99" d="100"/>
          <a:sy n="99" d="100"/>
        </p:scale>
        <p:origin x="520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2/1/26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2/1/26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2/1/26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2/1/26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2/1/26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2/1/26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2/1/26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77E9E8AB-6DB5-1841-9BBF-409B18313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45764"/>
            <a:ext cx="5791200" cy="543741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06EF506-029A-6543-BF60-AD9AA5ADF6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4157" y="445764"/>
            <a:ext cx="5523431" cy="3650710"/>
          </a:xfrm>
        </p:spPr>
        <p:txBody>
          <a:bodyPr/>
          <a:lstStyle/>
          <a:p>
            <a:pPr algn="ctr"/>
            <a:r>
              <a:rPr lang="fr-FR" sz="4000" dirty="0">
                <a:solidFill>
                  <a:schemeClr val="tx1"/>
                </a:solidFill>
              </a:rPr>
              <a:t>Les réseaux neuronaux Bayésiens: une solution pour maîtriser l’incertitude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EA101F1-441A-6641-ABA2-9E38BDDBD4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Alexandre Guedj</a:t>
            </a:r>
          </a:p>
        </p:txBody>
      </p:sp>
    </p:spTree>
    <p:extLst>
      <p:ext uri="{BB962C8B-B14F-4D97-AF65-F5344CB8AC3E}">
        <p14:creationId xmlns:p14="http://schemas.microsoft.com/office/powerpoint/2010/main" val="1204276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BAAD5D-51FF-C643-9C0E-9B873FCA7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8877B5-78AD-ED4B-A6AF-323FD2B95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fr-FR" dirty="0"/>
              <a:t>Intérêt des Réseaux Neuronaux Bayésiens (BNN)</a:t>
            </a:r>
          </a:p>
          <a:p>
            <a:pPr marL="457200" indent="-457200">
              <a:buFont typeface="+mj-lt"/>
              <a:buAutoNum type="arabicPeriod"/>
            </a:pPr>
            <a:r>
              <a:rPr lang="fr-FR" dirty="0"/>
              <a:t>Structure d’un BNN</a:t>
            </a:r>
          </a:p>
          <a:p>
            <a:pPr marL="457200" indent="-457200">
              <a:buFont typeface="+mj-lt"/>
              <a:buAutoNum type="arabicPeriod"/>
            </a:pPr>
            <a:r>
              <a:rPr lang="fr-FR" dirty="0"/>
              <a:t>Modèle Stochastique </a:t>
            </a:r>
          </a:p>
          <a:p>
            <a:pPr marL="457200" indent="-457200">
              <a:buFont typeface="+mj-lt"/>
              <a:buAutoNum type="arabicPeriod"/>
            </a:pPr>
            <a:r>
              <a:rPr lang="fr-FR" dirty="0"/>
              <a:t>Inférence</a:t>
            </a:r>
          </a:p>
          <a:p>
            <a:pPr marL="457200" indent="-457200">
              <a:buFont typeface="+mj-lt"/>
              <a:buAutoNum type="arabicPeriod"/>
            </a:pPr>
            <a:r>
              <a:rPr lang="fr-FR" dirty="0"/>
              <a:t>Implémentation Pratique</a:t>
            </a:r>
          </a:p>
          <a:p>
            <a:pPr marL="457200" indent="-457200">
              <a:buFont typeface="+mj-lt"/>
              <a:buAutoNum type="arabicPeriod"/>
            </a:pPr>
            <a:r>
              <a:rPr lang="fr-FR" dirty="0"/>
              <a:t>Cas d’Application : le MNIST</a:t>
            </a:r>
          </a:p>
          <a:p>
            <a:pPr marL="457200" indent="-457200">
              <a:buFont typeface="+mj-lt"/>
              <a:buAutoNum type="arabicPeriod"/>
            </a:pPr>
            <a:r>
              <a:rPr lang="fr-FR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659638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FDAD7B-E431-AB47-BBD5-CEE4FB195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Intérêt des Réseaux Neuronaux Bayésiens (BNN)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FD38440-62E2-FA4E-AACD-4726EFC61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2052918"/>
            <a:ext cx="7518174" cy="4195481"/>
          </a:xfrm>
        </p:spPr>
        <p:txBody>
          <a:bodyPr/>
          <a:lstStyle/>
          <a:p>
            <a:r>
              <a:rPr lang="fr-FR" dirty="0"/>
              <a:t>Réseaux neuronaux classiques trop confiants</a:t>
            </a:r>
          </a:p>
          <a:p>
            <a:r>
              <a:rPr lang="fr-FR" dirty="0"/>
              <a:t>Deux incertitudes :</a:t>
            </a:r>
          </a:p>
          <a:p>
            <a:pPr>
              <a:buFontTx/>
              <a:buChar char="-"/>
            </a:pPr>
            <a:r>
              <a:rPr lang="fr-FR" dirty="0"/>
              <a:t>Aléatoire</a:t>
            </a:r>
          </a:p>
          <a:p>
            <a:pPr>
              <a:buFontTx/>
              <a:buChar char="-"/>
            </a:pPr>
            <a:r>
              <a:rPr lang="fr-FR" dirty="0"/>
              <a:t>Epistémique</a:t>
            </a:r>
          </a:p>
          <a:p>
            <a:r>
              <a:rPr lang="fr-FR" dirty="0"/>
              <a:t>Idée Bayésienne : remplacer les valeurs fixes des poids par des distributions de probabilité</a:t>
            </a:r>
          </a:p>
          <a:p>
            <a:r>
              <a:rPr lang="fr-FR" dirty="0"/>
              <a:t>Formule de Bayes :</a:t>
            </a:r>
          </a:p>
          <a:p>
            <a:r>
              <a:rPr lang="fr-FR" dirty="0"/>
              <a:t>Prédiction par échantillonnage Monte Carlo :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602DCBB-7AB6-1B4D-9F88-E989E8845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111" y="1853248"/>
            <a:ext cx="4817945" cy="1528536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4275A41F-6D45-B74E-BD3C-6E65F941F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2036" y="4445249"/>
            <a:ext cx="4254500" cy="5588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391E1709-E548-9A4F-AA1B-C6D1CAA640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8800" y="5596675"/>
            <a:ext cx="1727200" cy="5969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90FE42F-1874-EE4E-A5A1-92D4AC63C8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6269" y="5098291"/>
            <a:ext cx="3810931" cy="163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89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E6F377-DB02-8A49-81DD-87274ECE5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Structure d’un BNN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B6D474-2C40-594F-9268-0EECD729D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B063901-87EA-004F-906B-F6DE513EC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443" y="1281772"/>
            <a:ext cx="5488278" cy="480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963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0A6033-23B1-754E-A061-E79802E9A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3. Modèle Stochastique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E7BA6A-AE97-DF4D-853E-E3805B618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Choix classique pour le </a:t>
            </a:r>
            <a:r>
              <a:rPr lang="fr-FR" dirty="0" err="1"/>
              <a:t>prior</a:t>
            </a:r>
            <a:r>
              <a:rPr lang="fr-FR" dirty="0"/>
              <a:t> :</a:t>
            </a:r>
          </a:p>
          <a:p>
            <a:r>
              <a:rPr lang="fr-FR" dirty="0"/>
              <a:t>Autres choix possibles : Laplace, Spike and </a:t>
            </a:r>
            <a:r>
              <a:rPr lang="fr-FR" dirty="0" err="1"/>
              <a:t>Slab</a:t>
            </a:r>
            <a:r>
              <a:rPr lang="fr-FR" dirty="0"/>
              <a:t>…</a:t>
            </a:r>
          </a:p>
          <a:p>
            <a:r>
              <a:rPr lang="fr-FR" dirty="0"/>
              <a:t>Choix important car </a:t>
            </a:r>
            <a:r>
              <a:rPr lang="fr-FR" dirty="0" err="1"/>
              <a:t>prior</a:t>
            </a:r>
            <a:r>
              <a:rPr lang="fr-FR" dirty="0"/>
              <a:t> </a:t>
            </a:r>
            <a:r>
              <a:rPr lang="fr-FR" dirty="0">
                <a:sym typeface="Wingdings" pitchFamily="2" charset="2"/>
              </a:rPr>
              <a:t> </a:t>
            </a:r>
            <a:r>
              <a:rPr lang="fr-FR" dirty="0" err="1">
                <a:sym typeface="Wingdings" pitchFamily="2" charset="2"/>
              </a:rPr>
              <a:t>regularisation</a:t>
            </a:r>
            <a:r>
              <a:rPr lang="fr-FR" dirty="0">
                <a:sym typeface="Wingdings" pitchFamily="2" charset="2"/>
              </a:rPr>
              <a:t> L2</a:t>
            </a:r>
          </a:p>
          <a:p>
            <a:r>
              <a:rPr lang="fr-FR" dirty="0">
                <a:sym typeface="Wingdings" pitchFamily="2" charset="2"/>
              </a:rPr>
              <a:t> Choix classique pour la </a:t>
            </a:r>
            <a:r>
              <a:rPr lang="fr-FR" dirty="0" err="1">
                <a:sym typeface="Wingdings" pitchFamily="2" charset="2"/>
              </a:rPr>
              <a:t>posterior</a:t>
            </a:r>
            <a:r>
              <a:rPr lang="fr-FR" dirty="0">
                <a:sym typeface="Wingdings" pitchFamily="2" charset="2"/>
              </a:rPr>
              <a:t> :                                            </a:t>
            </a:r>
          </a:p>
          <a:p>
            <a:r>
              <a:rPr lang="fr-FR" dirty="0">
                <a:sym typeface="Wingdings" pitchFamily="2" charset="2"/>
              </a:rPr>
              <a:t> 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B487205-D729-0F42-99DF-60E986DC4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2208" y="2052918"/>
            <a:ext cx="1876339" cy="38879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DB980B6-F7B2-AC43-BAB4-B623BD1B6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3963" y="2890337"/>
            <a:ext cx="2603500" cy="4064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F145A08A-521B-CE4B-9D80-EBD2CE19F1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9054" y="3398305"/>
            <a:ext cx="2956590" cy="35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188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871D43-E0E2-4043-B994-AD7A1F007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0F15C1A7-6FE4-EC46-BA6A-563B5E78BB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80228" y="429981"/>
            <a:ext cx="3991135" cy="220686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0AD5C57-00D4-DF48-B055-C18D94C44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47" y="212487"/>
            <a:ext cx="4254927" cy="264624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99B1DBD-F202-AA48-A637-97D85856F6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0018" y="212487"/>
            <a:ext cx="3594100" cy="2882900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FE0A9E33-9A9A-F743-9D48-33FE5CAD1D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47" y="3299122"/>
            <a:ext cx="4254927" cy="2665279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E88936D0-65C9-5047-9955-0412C7ECB3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0228" y="3528329"/>
            <a:ext cx="3991135" cy="2206863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8AE1F82D-50AA-2543-8832-39A7BF92BC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0018" y="3190310"/>
            <a:ext cx="3594100" cy="288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953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27DA1E-0E8C-834F-8B36-238BDA44E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D6664E71-79BB-9442-9AC5-8FAA3F839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1900" y="102778"/>
            <a:ext cx="3921362" cy="3116981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EE0CE4F6-7E9B-394E-8D49-ACA999B9A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9552" y="102780"/>
            <a:ext cx="3940851" cy="3116979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FA9F67E5-424C-834F-8B00-1CD939955E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8" y="105916"/>
            <a:ext cx="3882017" cy="3113844"/>
          </a:xfrm>
          <a:prstGeom prst="rect">
            <a:avLst/>
          </a:prstGeom>
        </p:spPr>
      </p:pic>
      <p:pic>
        <p:nvPicPr>
          <p:cNvPr id="17" name="Espace réservé du contenu 16">
            <a:extLst>
              <a:ext uri="{FF2B5EF4-FFF2-40B4-BE49-F238E27FC236}">
                <a16:creationId xmlns:a16="http://schemas.microsoft.com/office/drawing/2014/main" id="{2BD7AEB3-193C-2E4E-94E9-D9472DE89C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4079551" y="3331089"/>
            <a:ext cx="3940851" cy="3116980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CB0AB237-7AD6-B34A-BF7A-8D7FED370A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8" y="3334225"/>
            <a:ext cx="3882018" cy="3113844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94947286-9636-C04B-846E-0D00F1998A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1896" y="3331087"/>
            <a:ext cx="3921365" cy="3116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449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8C206D-37A2-804A-A2BA-0E5F8A4A8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BCE331-47A3-A544-B499-994A8BC1C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D297D2E-0993-F34D-A6A8-AC6706EDA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103" y="104447"/>
            <a:ext cx="3833912" cy="3032397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C747831B-4E52-8249-A340-A9925A2A1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5184" y="104447"/>
            <a:ext cx="3842899" cy="3032397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E1B4AEBD-82BD-B14E-A18A-D9D23968AF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90" y="79046"/>
            <a:ext cx="3812145" cy="305779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756559E-272C-5341-B784-6C7921FC8C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790" y="3336514"/>
            <a:ext cx="3762992" cy="3018372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DA8C8099-CFC2-2B44-B90D-666583B7F8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6103" y="3336514"/>
            <a:ext cx="3816180" cy="301837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5264D41F-7C52-7241-AE74-F61278AC8F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5184" y="3347283"/>
            <a:ext cx="3811479" cy="3007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906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1B8BF4-AF8E-034E-B673-85B7E9183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300397-9F63-484A-B96D-13E1DB5F1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3C5C4E5-3AEC-524C-853E-7DB70F237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4118" y="158009"/>
            <a:ext cx="3743753" cy="2961088"/>
          </a:xfrm>
          <a:prstGeom prst="rect">
            <a:avLst/>
          </a:prstGeom>
        </p:spPr>
      </p:pic>
      <p:pic>
        <p:nvPicPr>
          <p:cNvPr id="5" name="Espace réservé du contenu 5">
            <a:extLst>
              <a:ext uri="{FF2B5EF4-FFF2-40B4-BE49-F238E27FC236}">
                <a16:creationId xmlns:a16="http://schemas.microsoft.com/office/drawing/2014/main" id="{52230FF8-F360-004E-9F0D-612EE3032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73" y="158009"/>
            <a:ext cx="3677767" cy="295001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A4916DC6-71D2-694D-B8F2-5AB8196FAE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7450" y="160239"/>
            <a:ext cx="3734144" cy="296816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1FF4DE0-56E7-A640-B9B6-B8D3468F5C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773" y="3298387"/>
            <a:ext cx="3677768" cy="2950012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CF0721BB-3013-5F40-B978-665F715AEE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4117" y="3287312"/>
            <a:ext cx="3743753" cy="296108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1742EACA-CAE0-4143-BE75-9871BE78C2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7447" y="3280232"/>
            <a:ext cx="3734146" cy="2968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5552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262</TotalTime>
  <Words>120</Words>
  <Application>Microsoft Macintosh PowerPoint</Application>
  <PresentationFormat>Grand écran</PresentationFormat>
  <Paragraphs>25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Arial</vt:lpstr>
      <vt:lpstr>Century Gothic</vt:lpstr>
      <vt:lpstr>Wingdings</vt:lpstr>
      <vt:lpstr>Wingdings 3</vt:lpstr>
      <vt:lpstr>Ion</vt:lpstr>
      <vt:lpstr>Les réseaux neuronaux Bayésiens: une solution pour maîtriser l’incertitude</vt:lpstr>
      <vt:lpstr>Sommaire</vt:lpstr>
      <vt:lpstr>1. Intérêt des Réseaux Neuronaux Bayésiens (BNN) </vt:lpstr>
      <vt:lpstr>2. Structure d’un BNN</vt:lpstr>
      <vt:lpstr>3. Modèle Stochastique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réseaux neuronaux Bayésiens: une solution pour maîtriser l’incertitude</dc:title>
  <dc:creator>Microsoft Office User</dc:creator>
  <cp:lastModifiedBy>Microsoft Office User</cp:lastModifiedBy>
  <cp:revision>13</cp:revision>
  <dcterms:created xsi:type="dcterms:W3CDTF">2026-02-01T17:34:21Z</dcterms:created>
  <dcterms:modified xsi:type="dcterms:W3CDTF">2026-02-01T21:56:23Z</dcterms:modified>
</cp:coreProperties>
</file>